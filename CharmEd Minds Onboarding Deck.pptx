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is the live version of the CharmEd Minds Employee Training Guide. Set the tone: we help people understand their brains without shame.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CharmEd Minds is more than diagnosis. Walk through the seven components as one connected process, built inside primary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promise is our north star. Emphasize the two principles: optimize the body first, and behavior is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serve ages 5 to 90 across seven population tracks. Nobody is turned away for being "too old" or "too complex."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Tiers are set by the Provider based on need and medical necessity. Gold adds behavioral health integration and coaching.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patient gets these core components. The three clinical pillars are how we assess and train.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logic is the same for every track. Step 5, Education, is the most important - people need language before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Clear roles keep us safe and efficient. Diagnosis and clinical interpretation belong to the Provider.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Memorize this line. Non-clinical staff report scores and trends in plain language; they never diagnose.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APD owns operations and finds problems before they surface. Read the principle aloud.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13-step journey. Note the hard deadlines: referral same day, 24-hour assignment, 48-hour testing, same-day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track tailors the concern list, battery, modules, and outcomes - but shares the same pathway.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Screening is never one test. It is a battery matched to age, concern, and track. These are screens, not diagnoses.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 for the per-population batteries. Coordinators pull the right set at intake.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results roll into one Cognitive Profile that drives education, accommodations, referrals, and the care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Optimize the body before psychiatry. Staff screen and flag; the Provider evaluates and treats.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Same-day documentation is the standard. Every 97127 note needs five elements. The APD audits weekly.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talk IS the intervention. Practice the scripts. Behavior is communication.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review rhythm and escalation paths. APD routes red flags same day; the Provider decides.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promise. Point staff to the full guide and their role competency checklist.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2011680"/>
            <a:ext cx="4754880" cy="475488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023360"/>
            <a:ext cx="4206240" cy="420624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6400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CharmEd Minds™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868680" y="2971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TRAINING GUIDE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3611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Through Cognition and Education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5029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BHW Medical Group   ·   Lifespan Cognitive Health &amp; Executive Functioning   ·   Ages 5–90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CharmEd Minds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93776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lifespan cognition, executive function, and brain-health program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helps people understand how their brain is functioning, why they may be struggling, and what supports improve daily life. It is not limited to diagnosis — and it is built inside primary care.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611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connected components: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400507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screening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017520" y="400507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9" name="Text 7"/>
          <p:cNvSpPr/>
          <p:nvPr/>
        </p:nvSpPr>
        <p:spPr>
          <a:xfrm>
            <a:off x="3273552" y="39776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 mapping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50799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804672" y="4480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review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017520" y="450799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3273552" y="44805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optimization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01091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4983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017520" y="501091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3273552" y="4983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training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513832"/>
            <a:ext cx="146304" cy="146304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5486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planning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035040" y="1554480"/>
            <a:ext cx="5577840" cy="4480560"/>
          </a:xfrm>
          <a:prstGeom prst="roundRect">
            <a:avLst>
              <a:gd name="adj" fmla="val 2041"/>
            </a:avLst>
          </a:prstGeom>
          <a:solidFill>
            <a:srgbClr val="1E2761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0" y="1828800"/>
            <a:ext cx="557784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Cognition &amp;</a:t>
            </a:r>
            <a:endParaRPr lang="en-US" sz="34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Education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6035040" y="502920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promise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principles guide everything we do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2011680"/>
          </a:xfrm>
          <a:prstGeom prst="roundRect">
            <a:avLst>
              <a:gd name="adj" fmla="val 4545"/>
            </a:avLst>
          </a:prstGeom>
          <a:solidFill>
            <a:srgbClr val="2B3A7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5740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2286000" y="1993392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 the body before (or alongside) psychiatry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86000" y="2560320"/>
            <a:ext cx="9052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3D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Sleep, nutrition, inflammation, deficiencies, hormones, and medications can all suppress cognition. A "noncompliant" patient is often cognitively overloaded or medically unstable — not unwilling. We look for reversible contributors first.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4023360"/>
            <a:ext cx="10881360" cy="2011680"/>
          </a:xfrm>
          <a:prstGeom prst="roundRect">
            <a:avLst>
              <a:gd name="adj" fmla="val 4545"/>
            </a:avLst>
          </a:prstGeom>
          <a:solidFill>
            <a:srgbClr val="2B3A7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34340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2286000" y="4279392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Behavior is communication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286000" y="4846320"/>
            <a:ext cx="90525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D3DA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Struggles are rarely laziness or defiance. We explain WHY the brain is struggling and build supports around it — reducing shame and giving people language for their experience.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· LIFESPAN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We Serve — Seven Population Tracks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 (5–12)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Learning, attention, behavior, parent/school support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60020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1188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 &amp; Young Adults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28346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function, independence, emotional capacity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60020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46520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(18–64)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28346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Focus, burnout, brain fog, daily function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052560" y="160020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281160" y="18288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/>
          <p:nvPr/>
        </p:nvSpPr>
        <p:spPr>
          <a:xfrm>
            <a:off x="928116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235440" y="2377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Neurodivergent Adults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235440" y="283464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ADHD, autism, AuDHD, masking, burnout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74904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77240" y="3977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31520" y="4526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Patients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31520" y="4983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repair, life skills, relapse prevention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383280" y="374904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611880" y="3977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361188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566160" y="4526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Disease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66160" y="4983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fog, care-plan adherence, stabilization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17920" y="374904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46520" y="39776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6" name="Text 34"/>
          <p:cNvSpPr/>
          <p:nvPr/>
        </p:nvSpPr>
        <p:spPr>
          <a:xfrm>
            <a:off x="6446520" y="3977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6400800" y="452628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 (60+)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00800" y="498348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Memory, safety, reversible causes, caregivers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52560" y="374904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02C39A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052560" y="3977640"/>
            <a:ext cx="2651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Ages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5–90</a:t>
            </a:r>
            <a:endParaRPr lang="en-US" sz="3000" dirty="0"/>
          </a:p>
        </p:txBody>
      </p:sp>
      <p:sp>
        <p:nvSpPr>
          <p:cNvPr id="41" name="Text 39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CARE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 · Silver · Gold Tiers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965960"/>
            <a:ext cx="3017520" cy="640080"/>
          </a:xfrm>
          <a:prstGeom prst="roundRect">
            <a:avLst>
              <a:gd name="adj" fmla="val 11429"/>
            </a:avLst>
          </a:prstGeom>
          <a:solidFill>
            <a:srgbClr val="AE7C3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65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BRONZE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assessment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cognitive training (97127)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digital modules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43400" y="164592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965960"/>
            <a:ext cx="3017520" cy="640080"/>
          </a:xfrm>
          <a:prstGeom prst="roundRect">
            <a:avLst>
              <a:gd name="adj" fmla="val 11429"/>
            </a:avLst>
          </a:prstGeom>
          <a:solidFill>
            <a:srgbClr val="7C8794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1965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63440" y="28346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Bronze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add-ons (97535)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skill-building curriculum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138160" y="1645920"/>
            <a:ext cx="3566160" cy="4114800"/>
          </a:xfrm>
          <a:prstGeom prst="roundRect">
            <a:avLst>
              <a:gd name="adj" fmla="val 2564"/>
            </a:avLst>
          </a:prstGeom>
          <a:solidFill>
            <a:srgbClr val="1E2761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965960"/>
            <a:ext cx="3017520" cy="640080"/>
          </a:xfrm>
          <a:prstGeom prst="roundRect">
            <a:avLst>
              <a:gd name="adj" fmla="val 11429"/>
            </a:avLst>
          </a:prstGeom>
          <a:solidFill>
            <a:srgbClr val="C9A227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9659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GOLD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58200" y="2834640"/>
            <a:ext cx="297180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+ Silver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Health Integration (BHI)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provider review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coordination + family coaching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is set by the Provider based on need and medical necessity.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 · CARE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Components &amp; Three Clinical Pillars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every patient gets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557784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cognitive assessment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testing (CogniFit, Creyos)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Cognitive Test Kits (by age)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EF sessions (97127)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progress reviews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full retesting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interpretation &amp; care plan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Coaching: academic / work / decline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 when mood impacts cognition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92240" y="160020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66560" y="201168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2011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06640" y="182880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Cognitive Testing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06640" y="225856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CogniFit · Creyos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92240" y="306324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766560" y="347472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406640" y="329184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Cognitive Test Kits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406640" y="372160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 · Adult · Senior batteries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92240" y="452628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766560" y="493776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937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406640" y="47548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EF Interventions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406640" y="5184648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7C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97127 templates · real-world tasks · digital modules · coaching scripts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Cross-Population Pathway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seven-step logic for every track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B3A7A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0116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Concern Mapping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3429000" y="182880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B3A7A"/>
          </a:solidFill>
          <a:ln/>
        </p:spPr>
      </p:sp>
      <p:sp>
        <p:nvSpPr>
          <p:cNvPr id="8" name="Text 6"/>
          <p:cNvSpPr/>
          <p:nvPr/>
        </p:nvSpPr>
        <p:spPr>
          <a:xfrm>
            <a:off x="3611880" y="20116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&amp; EF Screening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B3A7A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20116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78892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&amp; Lifestyle Review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9006840" y="182880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B3A7A"/>
          </a:solidFill>
          <a:ln/>
        </p:spPr>
      </p:sp>
      <p:sp>
        <p:nvSpPr>
          <p:cNvPr id="14" name="Text 12"/>
          <p:cNvSpPr/>
          <p:nvPr/>
        </p:nvSpPr>
        <p:spPr>
          <a:xfrm>
            <a:off x="9189720" y="201168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78892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Identification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39776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02C39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68680" y="49377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3429000" y="39776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B3A7A"/>
          </a:solidFill>
          <a:ln/>
        </p:spPr>
      </p:sp>
      <p:sp>
        <p:nvSpPr>
          <p:cNvPr id="20" name="Text 18"/>
          <p:cNvSpPr/>
          <p:nvPr/>
        </p:nvSpPr>
        <p:spPr>
          <a:xfrm>
            <a:off x="361188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3657600" y="49377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Plan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217920" y="397764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B3A7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4160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000" dirty="0"/>
          </a:p>
        </p:txBody>
      </p:sp>
      <p:sp>
        <p:nvSpPr>
          <p:cNvPr id="24" name="Text 22"/>
          <p:cNvSpPr/>
          <p:nvPr/>
        </p:nvSpPr>
        <p:spPr>
          <a:xfrm>
            <a:off x="6446520" y="4937760"/>
            <a:ext cx="20574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&amp; Tracking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520440" y="397764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Education — is the most important: people need language for their experience before they can change it.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THE TEAM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Role on the Team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2240280"/>
          </a:xfrm>
          <a:prstGeom prst="roundRect">
            <a:avLst>
              <a:gd name="adj" fmla="val 40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755648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F9616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55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/ NP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testing (clinical)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diagnosis / ICD-10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&amp; approves care plan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Bills 96132 / 96136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&amp; reads labs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80560" y="1554480"/>
            <a:ext cx="3200400" cy="2240280"/>
          </a:xfrm>
          <a:prstGeom prst="roundRect">
            <a:avLst>
              <a:gd name="adj" fmla="val 40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755648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4709160" y="1755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 Program Director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754880" y="237744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program operations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weekly sessions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Audits docs &amp; attendance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red flags same day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trends (non-clinical)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554480"/>
            <a:ext cx="3200400" cy="2240280"/>
          </a:xfrm>
          <a:prstGeom prst="roundRect">
            <a:avLst>
              <a:gd name="adj" fmla="val 40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41080" y="1755648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41080" y="1755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 Coordinator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686800" y="237744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45–60 min intake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Administers test kits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Delivers 97127 sessions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same day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testing/homework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514600" y="3977640"/>
            <a:ext cx="3200400" cy="2240280"/>
          </a:xfrm>
          <a:prstGeom prst="roundRect">
            <a:avLst>
              <a:gd name="adj" fmla="val 40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0" y="4178808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2B3A7A"/>
          </a:solidFill>
          <a:ln/>
        </p:spPr>
      </p:sp>
      <p:sp>
        <p:nvSpPr>
          <p:cNvPr id="18" name="Text 16"/>
          <p:cNvSpPr/>
          <p:nvPr/>
        </p:nvSpPr>
        <p:spPr>
          <a:xfrm>
            <a:off x="2743200" y="4178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Assistant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788920" y="480060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handout &amp; expectations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device access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intake (≤7 days)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referral task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troubleshooting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46520" y="3977640"/>
            <a:ext cx="3200400" cy="2240280"/>
          </a:xfrm>
          <a:prstGeom prst="roundRect">
            <a:avLst>
              <a:gd name="adj" fmla="val 40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675120" y="4178808"/>
            <a:ext cx="2743200" cy="502920"/>
          </a:xfrm>
          <a:prstGeom prst="roundRect">
            <a:avLst>
              <a:gd name="adj" fmla="val 10909"/>
            </a:avLst>
          </a:prstGeom>
          <a:solidFill>
            <a:srgbClr val="7C8794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0" y="417880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20840" y="4800600"/>
            <a:ext cx="2697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12-week series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reminders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compliance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Rescheduling</a:t>
            </a:r>
            <a:endParaRPr lang="en-US" sz="11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No-show follow-up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 · SCOPE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Clinical / Non-Clinical 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263640" y="160020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FCEEEE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28800"/>
            <a:ext cx="5029200" cy="502920"/>
          </a:xfrm>
          <a:prstGeom prst="roundRect">
            <a:avLst>
              <a:gd name="adj" fmla="val 10909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2880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Non-clinical staff MAY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92240" y="1828800"/>
            <a:ext cx="4892040" cy="502920"/>
          </a:xfrm>
          <a:prstGeom prst="roundRect">
            <a:avLst>
              <a:gd name="adj" fmla="val 10909"/>
            </a:avLst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0" y="1828800"/>
            <a:ext cx="4892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Non-clinical staff MAY NOT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2514600"/>
            <a:ext cx="4892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1D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Administer standardized screens &amp; test kits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1D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and report raw scores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1D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observed trends ("memory scores improved")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1D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Educate from approved handouts &amp; scripts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✓"/>
            </a:pPr>
            <a:r>
              <a:rPr lang="en-US" sz="1300" dirty="0">
                <a:solidFill>
                  <a:srgbClr val="1D6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concerns to the APD / Provider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514600"/>
            <a:ext cx="4709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200"/>
              </a:spcAft>
              <a:buSzPct val="100000"/>
              <a:buChar char="✗"/>
            </a:pPr>
            <a:r>
              <a:rPr lang="en-US" sz="1300" dirty="0">
                <a:solidFill>
                  <a:srgbClr val="9C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or "rule out" a condition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✗"/>
            </a:pPr>
            <a:r>
              <a:rPr lang="en-US" sz="1300" dirty="0">
                <a:solidFill>
                  <a:srgbClr val="9C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scores clinically or predict prognosis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✗"/>
            </a:pPr>
            <a:r>
              <a:rPr lang="en-US" sz="1300" dirty="0">
                <a:solidFill>
                  <a:srgbClr val="9C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a patient they "have ADHD / autism / dementia"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✗"/>
            </a:pPr>
            <a:r>
              <a:rPr lang="en-US" sz="1300" dirty="0">
                <a:solidFill>
                  <a:srgbClr val="9C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medical advice, adjust meds, or order labs</a:t>
            </a:r>
            <a:endParaRPr lang="en-US" sz="1300" dirty="0"/>
          </a:p>
          <a:p>
            <a:pPr marL="203200" indent="-203200">
              <a:spcAft>
                <a:spcPts val="1200"/>
              </a:spcAft>
              <a:buSzPct val="100000"/>
              <a:buChar char="✗"/>
            </a:pPr>
            <a:r>
              <a:rPr lang="en-US" sz="1300" dirty="0">
                <a:solidFill>
                  <a:srgbClr val="9C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medical necessity or change the care plan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572000" cy="457200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APD Ownership Principle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698480" cy="2194560"/>
          </a:xfrm>
          <a:prstGeom prst="roundRect">
            <a:avLst>
              <a:gd name="adj" fmla="val 5000"/>
            </a:avLst>
          </a:prstGeom>
          <a:solidFill>
            <a:srgbClr val="02C39A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1920240"/>
            <a:ext cx="9966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 APD does not wait for problems to surface. Every untracked patient, overdue note, missed session, and unassigned referral is the APD’s responsibility to find and resolve — without being told."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389120"/>
            <a:ext cx="106070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referral queue — no patient unassigned &gt; 24 hrs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documentation audit — every 97127 note complete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tracking before it becomes a billing issue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review gatekeeping — coordinator summary first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red-flag routing (APD routes, NP decides)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· PATIENT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→ Discharge (13 Steps)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7099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74650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04088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screening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816352" y="160020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953512" y="17099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456432" y="174650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7180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(same day)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84064" y="160020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221224" y="17099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724144" y="174650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239512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intake steps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51776" y="160020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88936" y="17099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991856" y="174650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APD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507224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(&lt;24 hrs)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619488" y="160020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756648" y="170992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0259568" y="174650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774936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45–60 min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283464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85800" y="294436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188720" y="298094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04088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testing (48 hrs)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816352" y="283464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953512" y="294436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3456432" y="298094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2971800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review · 96132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084064" y="283464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221224" y="294436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5724144" y="298094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APD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239512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handoff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283464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488936" y="294436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7991856" y="298094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7507224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97127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19488" y="283464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756648" y="294436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10259568" y="298094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9774936" y="33832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review (Wk 4)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8640" y="406908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685800" y="417880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188720" y="421538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04088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retest (Wk 12)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816352" y="406908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953512" y="417880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3456432" y="421538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NP+APD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297180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 decision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084064" y="4069080"/>
            <a:ext cx="2121408" cy="1078992"/>
          </a:xfrm>
          <a:prstGeom prst="roundRect">
            <a:avLst>
              <a:gd name="adj" fmla="val 8475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221224" y="4178808"/>
            <a:ext cx="64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200" dirty="0"/>
          </a:p>
        </p:txBody>
      </p:sp>
      <p:sp>
        <p:nvSpPr>
          <p:cNvPr id="54" name="Text 52"/>
          <p:cNvSpPr/>
          <p:nvPr/>
        </p:nvSpPr>
        <p:spPr>
          <a:xfrm>
            <a:off x="5724144" y="4215384"/>
            <a:ext cx="134416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239512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Discharge / maintenance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deadlines: referral same day · assignment &lt; 24 hrs · home testing &lt; 48 hrs · documentation same day.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· POPULATION TRACKS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Pathway, Seven Tailored Tracks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65376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653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34440" y="16642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993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optimization before psychiatry · parent education · 504/IEP support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72200" y="1572768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73368" y="1865376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373368" y="18653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0" y="1664208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 &amp; Young Adults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858000" y="19933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vs. cognitive overload · school/work systems · independence readiness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49808" y="2944368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29443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34440" y="2743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34440" y="307238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vs. ADHD vs. brain fog · daily-function systems · accommodations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2651760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3368" y="2944368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373368" y="29443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274320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Neurodivergent Adults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0" y="307238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Masking &amp; burnout · sensory regulation · self-advocacy · capacity planning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730752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" y="4023360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0233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34440" y="3822192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234440" y="41513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repair · life-skills restoration · trigger &amp; coping map · care coordination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72200" y="3730752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73368" y="4023360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373368" y="40233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858000" y="3822192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Disease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58000" y="4151376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Brain-fog contributor map · care-plan simplification · medical-cognitive stabilization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4809744"/>
            <a:ext cx="5440680" cy="932688"/>
          </a:xfrm>
          <a:prstGeom prst="roundRect">
            <a:avLst>
              <a:gd name="adj" fmla="val 98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9808" y="5102352"/>
            <a:ext cx="347472" cy="347472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749808" y="510235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234440" y="4901184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234440" y="5230368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Reversible causes · vascular/metabolic brain health · medication safety · caregivers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SCREENING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Battery, Not One Test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73352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cognition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984248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CogniFit · Creyos · NIH Toolbox · MoCA · SLUMS · Mini-Cog · MindPrint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172200" y="1554480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0" y="1673352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 / attention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1984248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· Conners · ADHD-RS-5 · ASRS v1.1 · Brown · QbCheck/QbTest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578608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26974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function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3008376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BRIEF-2 · BRIEF-A · BDEFS · CEFI · Brown EF/A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2578608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26974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Autism / AuDHD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3008376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SRS-2 · SCQ · AQ · RAADS-R · CAT-Q · Sensory Profile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602736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372160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 / trauma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" y="4032504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PHQ-9/PHQ-A · GAD-7 · SCARED · DERS · PCL-5 / PC-PTSD-5 · GDS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3602736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00800" y="3721608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4032504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BEARS · Pediatric Sleep Q · STOP-Bang · Epworth · ISI · PSQI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626864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7240" y="4745736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77240" y="505663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AUDIT-C · DAST-10 · ASSIST · BAM · craving scale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72200" y="4626864"/>
            <a:ext cx="5440680" cy="877824"/>
          </a:xfrm>
          <a:prstGeom prst="roundRect">
            <a:avLst>
              <a:gd name="adj" fmla="val 10417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00800" y="4745736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fog / function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00800" y="5056632"/>
            <a:ext cx="49834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 Cog · Fatigue Severity · med-adherence · Lawton IADL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identify patterns &amp; referral needs — they do NOT replace formal diagnostic evaluation.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· QUICK 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Batteries by Population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65506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65506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Children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154680" y="1609344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 (P+T) · BRIEF-2/CEFI · PSC-17/SDQ · SCARED · BEARS · SRS-2/SCQ · Sensory Profile 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2313432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31343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Teens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54680" y="226771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Vanderbilt/Conners · BRIEF-2/A · PHQ-A · GAD-7 · ISI · SRS-2/AQ/CAT-Q · CogniFit/QbCheck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85800" y="2971800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71800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54680" y="2926080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ASRS v1.1 · BRIEF-A/BDEFS · PHQ-9 · GAD-7 · STOP-Bang · Epworth · PROMIS Cog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3630168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30168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ADHD/Autism/AuDHD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154680" y="3584448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ASRS · BRIEF-A/BDEFS · AQ/RAADS-R · CAT-Q · Sensory Profile · PCL-5/PC-PTSD-5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187952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4288536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288536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154680" y="4242816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MoCA/CogniFit · BRIEF-A/BDEFS · PHQ-9 · GAD-7 · PCL-5 · BAM · AUDIT-C/DAST-10 · craving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85800" y="4946904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4946904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Disease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154680" y="4901184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 Cog · MoCA · BRIEF-A · PHQ-9/GAD-7 · STOP-Bang · Fatigue · Lawton IADL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504688"/>
            <a:ext cx="1106424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85800" y="5605272"/>
            <a:ext cx="2331720" cy="36576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05272"/>
            <a:ext cx="2331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3154680" y="5559552"/>
            <a:ext cx="8321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Mini-Cog · MoCA/SLUMS · AD8 · FAQ/Lawton · GDS/PHQ-9 · STOP-Bang · CAM · anticholinergic review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Screening → the Cognitive Profile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5212080" cy="4297680"/>
          </a:xfrm>
          <a:prstGeom prst="roundRect">
            <a:avLst>
              <a:gd name="adj" fmla="val 2128"/>
            </a:avLst>
          </a:prstGeom>
          <a:solidFill>
            <a:srgbClr val="2B3A7A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8745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identifies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7548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strengths &amp; weaknesses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· attention · memory · processing patterns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Emotional-regulation concerns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&amp; medical contributors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Autism/AuDHD traits when present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or chronic-disease barriers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Older-adult safety / memory concerns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7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26480" y="1691640"/>
            <a:ext cx="5440680" cy="4297680"/>
          </a:xfrm>
          <a:prstGeom prst="roundRect">
            <a:avLst>
              <a:gd name="adj" fmla="val 2128"/>
            </a:avLst>
          </a:prstGeom>
          <a:solidFill>
            <a:srgbClr val="02C39A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5508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then guides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93776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&amp; patient education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/ work accommodations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optimization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training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 / psychiatry referral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Neuropsychology / neurology referral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chronic-care supports</a:t>
            </a:r>
            <a:endParaRPr lang="en-US" sz="13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03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Caregiver education &amp; follow-up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 · CONTRIBUTORS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Optimize the Body Before Psychiatry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Cognition can be suppressed by physiologic factors that are often reversible. Staff SCREEN and FLAG; the Provider evaluates, orders labs, and treats.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&amp; breathing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9260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apnea · snoring / mouth breathing · insomnia · poor sleep quality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233172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 &amp; labs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29260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/ ferritin · B12 / folate · vitamin D · thyroid · A1C / glucose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233172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75320" y="25146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Inflammation &amp; vascular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75320" y="292608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Autoimmune · chronic inflammation · hypertension · vascular risk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06908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Hormones &amp; metabolic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" y="466344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Peri/menopause · testosterone · insulin resistance · MASLD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406908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52628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Medication &amp; load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466344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Polypharmacy · anticholinergic burden · side effects · pain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4069080"/>
            <a:ext cx="3566160" cy="1554480"/>
          </a:xfrm>
          <a:prstGeom prst="roundRect">
            <a:avLst>
              <a:gd name="adj" fmla="val 5882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75320" y="425196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&amp; lifestyle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75320" y="4663440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burden · chronic stress · dehydration · movement · screens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·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Documentation &amp; Billing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86400" cy="4297680"/>
          </a:xfrm>
          <a:prstGeom prst="roundRect">
            <a:avLst>
              <a:gd name="adj" fmla="val 2128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codes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2194560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456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97127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286000" y="2194560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cognitive/EF training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77240" y="2907792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07792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97535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86000" y="2907792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add-ons (Silver)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621024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621024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96132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3621024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interpretation (baseline &amp; quarterly)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334256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334256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96136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4334256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administration / scoring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5047488"/>
            <a:ext cx="1371600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50474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BHI codes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286000" y="5047488"/>
            <a:ext cx="3566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Health Integration (Gold)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63640" y="160020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92240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97127 note needs 5 elements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92240" y="2286000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86600" y="22860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 diagnosis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92240" y="2852928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086600" y="285292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Deficits targeted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492240" y="3419856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/>
          <p:nvPr/>
        </p:nvSpPr>
        <p:spPr>
          <a:xfrm>
            <a:off x="6492240" y="34198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86600" y="341985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 delivered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492240" y="3986784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3" name="Text 31"/>
          <p:cNvSpPr/>
          <p:nvPr/>
        </p:nvSpPr>
        <p:spPr>
          <a:xfrm>
            <a:off x="6492240" y="39867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086600" y="3986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response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92240" y="4553712"/>
            <a:ext cx="457200" cy="45720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6" name="Text 34"/>
          <p:cNvSpPr/>
          <p:nvPr/>
        </p:nvSpPr>
        <p:spPr>
          <a:xfrm>
            <a:off x="6492240" y="4553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86600" y="455371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assigned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492240" y="525780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documentation is the standard. The APD audits all notes weekly.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9 · COMMUNICATION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Talk IS the Intervention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965960"/>
            <a:ext cx="50292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is communication — not defiance or laziness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pattern, not the person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shame — struggles are brain-based and workable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language first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Cognition is a muscle — it fatigues, then strengthens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035040" y="1600200"/>
            <a:ext cx="557784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309360" y="17830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patient asks for a diagnosis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0936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"These are screening tools that map how your brain is working. The provider reviews it all together and talks with you about what it means — I’ll make sure that’s on your review list."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035040" y="3749040"/>
            <a:ext cx="5577840" cy="1965960"/>
          </a:xfrm>
          <a:prstGeom prst="roundRect">
            <a:avLst>
              <a:gd name="adj" fmla="val 4651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3931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Encouraging a fatigued patient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434340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"Executive function is like a muscle — it gets tired but grows stronger with consistent training. If you’re fatigued, try a shorter session today."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FOLLOW-UP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Rhythm &amp; Escalation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6583680" cy="896112"/>
          </a:xfrm>
          <a:prstGeom prst="roundRect">
            <a:avLst>
              <a:gd name="adj" fmla="val 102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73936"/>
            <a:ext cx="1737360" cy="54864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73936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606040" y="1691640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97127 session + same-day note; track homework &amp; digital compliance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6583680" cy="896112"/>
          </a:xfrm>
          <a:prstGeom prst="roundRect">
            <a:avLst>
              <a:gd name="adj" fmla="val 102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31520" y="2798064"/>
            <a:ext cx="1737360" cy="54864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798064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(Wk 4)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606040" y="2715768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Coordinator summary → APD reviews first → NP updates plan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48456"/>
            <a:ext cx="6583680" cy="896112"/>
          </a:xfrm>
          <a:prstGeom prst="roundRect">
            <a:avLst>
              <a:gd name="adj" fmla="val 102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31520" y="3822192"/>
            <a:ext cx="1737360" cy="54864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822192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(Wk 12)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606040" y="3739896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retest; APD compiles; NP interprets &amp; bills 96132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4672584"/>
            <a:ext cx="6583680" cy="896112"/>
          </a:xfrm>
          <a:prstGeom prst="roundRect">
            <a:avLst>
              <a:gd name="adj" fmla="val 10204"/>
            </a:avLst>
          </a:prstGeom>
          <a:solidFill>
            <a:srgbClr val="F4F7FC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31520" y="4846320"/>
            <a:ext cx="1737360" cy="54864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84632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606040" y="4764024"/>
            <a:ext cx="4343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· modify tier · maintenance · discharge · refer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06640" y="160020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F96167"/>
          </a:solidFill>
          <a:ln w="12700">
            <a:solidFill>
              <a:srgbClr val="E2E9F3"/>
            </a:solidFill>
            <a:prstDash val="solid"/>
          </a:ln>
          <a:effectLst>
            <a:outerShdw sx="100000" sy="100000" kx="0" ky="0" algn="bl" rotWithShape="0" blurRad="76200" dist="25400" dir="5400000">
              <a:srgbClr val="BAC4D6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35240" y="178308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680960" y="2286000"/>
            <a:ext cx="37490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 or medical concern → APD routes to Provider SAME DAY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diagnosis needed → Provider refers for full evaluation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16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Crisis / safety → follow BHW crisis protocol immediately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91840"/>
            <a:ext cx="4937760" cy="493776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-1828800"/>
            <a:ext cx="4572000" cy="4572000"/>
          </a:xfrm>
          <a:prstGeom prst="ellipse">
            <a:avLst/>
          </a:prstGeom>
          <a:solidFill>
            <a:srgbClr val="2B3A7A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011680"/>
            <a:ext cx="103327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Through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Cognition and Education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60120" y="393192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full Employee Training Guide · Complete your role competency checklist · Ask your APD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60120" y="4709160"/>
            <a:ext cx="2743200" cy="54864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4709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AA3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2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CharmEd Minds™ · Employee Training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2026-07-26T10:39:37Z</dcterms:created>
  <dcterms:modified xsi:type="dcterms:W3CDTF">2026-07-26T10:39:37Z</dcterms:modified>
</cp:coreProperties>
</file>