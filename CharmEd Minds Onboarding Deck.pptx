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is the live version of the CharmEd Minds Employee Training Guide. Set the tone: we help people understand their brains without shame.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CharmEd Minds is more than diagnosis. Walk through the seven components as one connected process, built inside primary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promise is our north star. Emphasize the two principles: optimize the body first, and behavior is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serve ages 5 to 90 across seven population tracks. Nobody is turned away for being "too old" or "too complex."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Tiers are set by the Provider based on need and medical necessity. Gold adds behavioral health integration and coaching.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patient gets these core components. The three clinical pillars are how we assess and train.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seven-step logic is the same for every track. Step 5, Education, is the most important - people need language before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roles keep us safe and efficient. Diagnosis and clinical interpretation belong to the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Memorize this line. Non-clinical staff report scores and trends in plain language; they never diagnose.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APD owns operations and finds problems before they surface. Read the principle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13-step journey. Note the hard deadlines: referral same day, 24-hour assignment, 48-hour testing, same-day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track tailors the concern list, battery, modules, and outcomes - but shares the same pathway.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Screening is never one test. It is a battery matched to age, concern, and track. These are screens, not diagnoses.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reference for the per-population batteries. Coordinators pull the right set at intake.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results roll into one Cognitive Profile that drives education, accommodations, referrals, and the care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Optimize the body before psychiatry. Staff screen and flag; the Provider evaluates and treats.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Same-day documentation is the standard. Every 97127 note needs five elements. The APD audits weekly.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we talk IS the intervention. Practice the scripts. Behavior is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review rhythm and escalation paths. APD routes red flags same day; the Provider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Safety &amp; Scope. Answers: (1) These are screening tools; the Provider reviews and discusses — do NOT diagnose; put it on the review list. (2) The Provider only. (3) Tell the APD immediately; APD routes to Provider same day. (4) MAY NOT: diagnose, interpret clinically, adjust meds/order labs, decide medical necessity.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Journey &amp; Deadlines. Answers: (1) 24 hours. (2) 48 hours. (3) Same day. (4) The APD reviews it first, before the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Screening &amp; Documentation. Answers: (1) CogniFit and Creyos. (2) ADHD tool + autism-trait tool + executive-function tool + sensory profile. (3) ICD-10, deficits, interventions, functional response, homework. (4) Replace a formal diagnostic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promise. Point staff to the full guide, the written competency assessment + sign-off, and their role competency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4754880" cy="475488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4206240" cy="420624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640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CharmEd Minds™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TRAINING GUIDE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Through Cognition and Education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BHW Medical Group   ·   Lifespan Cognitive Health &amp; Executive Functioning   ·   Ages 5–90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CharmEd Minds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lifespan cognition, executive function, and brain-health program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helps people understand how their brain is functioning, why they may be struggling, and what supports improve daily life. It is not limited to diagnosis — and it is built inside primary care.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connected components: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00507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screening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17520" y="400507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3273552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function mapping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50799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4480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review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17520" y="450799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273552" y="4480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optimization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0109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983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017520" y="50109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3273552" y="4983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training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1383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planning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155448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1828800"/>
            <a:ext cx="5577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endParaRPr lang="en-US" sz="3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</a:t>
            </a:r>
            <a:endParaRPr lang="en-US" sz="3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Cognition &amp;</a:t>
            </a:r>
            <a:endParaRPr lang="en-US" sz="3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035040" y="50292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promise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principles guide everything we 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2B3A7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57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2286000" y="199339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the body before (or alongside) psychiatry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6032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3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nutrition, inflammation, deficiencies, hormones, and medications can all suppress cognition. A "noncompliant" patient is often cognitively overloaded or medically unstable — not unwilling. We look for reversible contributors first.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2B3A7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343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2286000" y="427939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is communication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6000" y="484632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3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are rarely laziness or defiance. We explain WHY the brain is struggling and build supports around it — reducing shame and giving people language for their experience.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LIFESPAN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Serve — Seven Population Tracks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(5–12)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Learning, attention, behavior, parent/school support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 &amp; Young Adults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834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function, independence, emotional capacity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(18–64)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834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Focus, burnout, brain fog, daily function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3544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Neurodivergent Adults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2834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ADHD, autism, AuDHD, masking, burnout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" y="4526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Patients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49834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repair, life skills, relapse prevention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374904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11880" y="3977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566160" y="4526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66160" y="49834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fog, care-plan adherence, stabilization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74904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46520" y="3977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00800" y="4526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(60+)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0" y="49834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safety, reversible causes, caregivers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52560" y="374904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02C39A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052560" y="39776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5–90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CARE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· Silver · Gold Tiers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AE7C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assessment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cognitive training (97127)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digital modules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96596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7C8794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965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283464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Bronze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add-ons (97535)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skill-building curriculum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196596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965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58200" y="283464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+ Silver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Health Integration (BHI)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provider review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coordination + family coaching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is set by the Provider based on need and medical necessity.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CARE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 &amp; Three Clinical Pillars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patient gets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5577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cognitive assessment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testing (CogniFit, Creyos)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Cognitive Test Kits (by age)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EF sessions (97127)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progress reviews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full retesting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interpretation &amp; care plan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Coaching: academic / work / decline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 when mood impacts cognition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60020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66560" y="20116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0664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Cognitive Testing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06640" y="22585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CogniFit · Creyos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306324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66560" y="3474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0664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Cognitive Test Kits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06640" y="372160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· Adult · Senior batteries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452628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49377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06640" y="47548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EF Interventions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06640" y="51846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97127 templates · real-world tasks · digital modules · coaching scripts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Cross-Population Pathway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seven-step logic for every track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2B3A7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Concern Mapping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2B3A7A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20116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0" y="27889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&amp; EF Screening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2B3A7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116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46520" y="27889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&amp; Lifestyle Review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2B3A7A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20116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35440" y="27889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Identification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60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68680" y="493776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3429000" y="3977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2B3A7A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4160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657600" y="493776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17920" y="3977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2B3A7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160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446520" y="493776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&amp; Tracking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520440" y="397764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Education — is the most important: people need language for their experience before they can change it.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Role on the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0" cy="2240280"/>
          </a:xfrm>
          <a:prstGeom prst="roundRect">
            <a:avLst>
              <a:gd name="adj" fmla="val 408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55648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/ NP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2697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testing (clinical)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diagnosis / ICD-10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&amp; approves care plan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96132 / 96136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reads labs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200400" cy="2240280"/>
          </a:xfrm>
          <a:prstGeom prst="roundRect">
            <a:avLst>
              <a:gd name="adj" fmla="val 408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755648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7556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Program Director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54880" y="2377440"/>
            <a:ext cx="2697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program operations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weekly sessions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docs &amp; attendance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red flags same day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trends (non-clinical)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1554480"/>
            <a:ext cx="3200400" cy="2240280"/>
          </a:xfrm>
          <a:prstGeom prst="roundRect">
            <a:avLst>
              <a:gd name="adj" fmla="val 408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41080" y="1755648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641080" y="17556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Coordinator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0" y="2377440"/>
            <a:ext cx="2697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45–60 min intake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Administers test kits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97127 sessions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same day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testing/homework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3977640"/>
            <a:ext cx="3200400" cy="2240280"/>
          </a:xfrm>
          <a:prstGeom prst="roundRect">
            <a:avLst>
              <a:gd name="adj" fmla="val 408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4178808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2B3A7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41788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788920" y="4800600"/>
            <a:ext cx="2697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handout &amp; expectations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device access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intake (≤7 days)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referral task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troubleshooting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3977640"/>
            <a:ext cx="3200400" cy="2240280"/>
          </a:xfrm>
          <a:prstGeom prst="roundRect">
            <a:avLst>
              <a:gd name="adj" fmla="val 408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4178808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7C8794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1788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720840" y="4800600"/>
            <a:ext cx="2697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12-week series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reminders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compliance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Rescheduling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follow-up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Clinical / Non-Clinical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CEEEE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2880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Non-clinical staff MAY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89204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288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Non-clinical staff MAY NOT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D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standardized screens &amp; test kits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D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report raw scores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D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observed trends ("memory scores improved")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D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from approved handouts &amp; scripts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D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concerns to the APD / Provider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514600"/>
            <a:ext cx="4709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9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or "rule out" a condition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9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scores clinically or predict prognosis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9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patient they "have ADHD / autism / dementia"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9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medical advice, adjust meds, or order labs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9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medical necessity or change the care plan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APD Ownership Principle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698480" cy="219456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920240"/>
            <a:ext cx="9966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APD does not wait for problems to surface. Every untracked patient, overdue note, missed session, and unassigned referral is the APD’s responsibility to find and resolve — without being told."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10607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referral queue — no patient unassigned &gt; 24 hrs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documentation audit — every 97127 note complete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 before it becomes a billing issue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review gatekeeping — coordinator summary first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red-flag routing (APD routes, NP decides)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PATIENT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 → Discharge (13 Steps)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21408" cy="1078992"/>
          </a:xfrm>
          <a:prstGeom prst="roundRect">
            <a:avLst>
              <a:gd name="adj" fmla="val 8475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09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746504"/>
            <a:ext cx="1344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04088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screening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16352" y="1600200"/>
            <a:ext cx="2121408" cy="1078992"/>
          </a:xfrm>
          <a:prstGeom prst="roundRect">
            <a:avLst>
              <a:gd name="adj" fmla="val 8475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53512" y="1709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56432" y="1746504"/>
            <a:ext cx="1344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7180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(same day)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84064" y="1600200"/>
            <a:ext cx="2121408" cy="1078992"/>
          </a:xfrm>
          <a:prstGeom prst="roundRect">
            <a:avLst>
              <a:gd name="adj" fmla="val 8475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21224" y="1709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724144" y="1746504"/>
            <a:ext cx="1344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39512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intake steps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51776" y="1600200"/>
            <a:ext cx="2121408" cy="1078992"/>
          </a:xfrm>
          <a:prstGeom prst="roundRect">
            <a:avLst>
              <a:gd name="adj" fmla="val 8475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88936" y="1709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91856" y="1746504"/>
            <a:ext cx="1344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07224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(&lt;24 hrs)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19488" y="1600200"/>
            <a:ext cx="2121408" cy="1078992"/>
          </a:xfrm>
          <a:prstGeom prst="roundRect">
            <a:avLst>
              <a:gd name="adj" fmla="val 8475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56648" y="1709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259568" y="1746504"/>
            <a:ext cx="1344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774936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45–60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834640"/>
            <a:ext cx="2121408" cy="1078992"/>
          </a:xfrm>
          <a:prstGeom prst="roundRect">
            <a:avLst>
              <a:gd name="adj" fmla="val 8475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2944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88720" y="2980944"/>
            <a:ext cx="1344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4088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testing (48 hrs)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16352" y="2834640"/>
            <a:ext cx="2121408" cy="1078992"/>
          </a:xfrm>
          <a:prstGeom prst="roundRect">
            <a:avLst>
              <a:gd name="adj" fmla="val 8475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53512" y="2944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456432" y="2980944"/>
            <a:ext cx="1344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7180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review · 96132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84064" y="2834640"/>
            <a:ext cx="2121408" cy="1078992"/>
          </a:xfrm>
          <a:prstGeom prst="roundRect">
            <a:avLst>
              <a:gd name="adj" fmla="val 8475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21224" y="2944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724144" y="2980944"/>
            <a:ext cx="1344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39512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handoff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51776" y="2834640"/>
            <a:ext cx="2121408" cy="1078992"/>
          </a:xfrm>
          <a:prstGeom prst="roundRect">
            <a:avLst>
              <a:gd name="adj" fmla="val 8475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488936" y="2944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991856" y="2980944"/>
            <a:ext cx="1344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07224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97127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619488" y="2834640"/>
            <a:ext cx="2121408" cy="1078992"/>
          </a:xfrm>
          <a:prstGeom prst="roundRect">
            <a:avLst>
              <a:gd name="adj" fmla="val 8475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756648" y="2944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0259568" y="2980944"/>
            <a:ext cx="1344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774936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review (Wk 4)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069080"/>
            <a:ext cx="2121408" cy="1078992"/>
          </a:xfrm>
          <a:prstGeom prst="roundRect">
            <a:avLst>
              <a:gd name="adj" fmla="val 8475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85800" y="41788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188720" y="4215384"/>
            <a:ext cx="1344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04088" y="4617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retest (Wk 12)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16352" y="4069080"/>
            <a:ext cx="2121408" cy="1078992"/>
          </a:xfrm>
          <a:prstGeom prst="roundRect">
            <a:avLst>
              <a:gd name="adj" fmla="val 8475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953512" y="41788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3456432" y="4215384"/>
            <a:ext cx="1344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NP+APD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971800" y="4617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 decision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84064" y="4069080"/>
            <a:ext cx="2121408" cy="1078992"/>
          </a:xfrm>
          <a:prstGeom prst="roundRect">
            <a:avLst>
              <a:gd name="adj" fmla="val 8475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221224" y="41788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5724144" y="4215384"/>
            <a:ext cx="1344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239512" y="4617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/ maintenance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deadlines: referral same day · assignment &lt; 24 hrs · home testing &lt; 48 hrs · documentation same day.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POPULATION TRACKS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Pathway, Seven Tailored Tracks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65376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65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642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9933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optimization before psychiatry · parent education · 504/IEP support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572768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1865376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865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16642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 &amp; Young Adults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19933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vs. cognitive overload · school/work systems · independence readiness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2944368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7432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0723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vs. ADHD vs. brain fog · daily-function systems · accommodations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2651760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3368" y="2944368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7432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Neurodivergent Adults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30723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&amp; burnout · sensory regulation · self-advocacy · capacity planning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30752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02336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023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382219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1513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repair · life-skills restoration · trigger &amp; coping map · care coordination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3730752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73368" y="402336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4023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382219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41513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Brain-fog contributor map · care-plan simplification · medical-cognitive stabilization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809744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510235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51023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34440" y="490118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34440" y="52303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causes · vascular/metabolic brain health · medication safety · caregivers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SCREENING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Battery, Not One 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7335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cognition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CogniFit · Creyos · NIH Toolbox · MoCA · SLUMS · Mini-Cog · MindPrint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67335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 / attention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98424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Vanderbilt · Conners · ADHD-RS-5 · ASRS v1.1 · Brown · QbCheck/QbTest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6974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function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008376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BRIEF-2 · BRIEF-A · BDEFS · CEFI · Brown EF/A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2578608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6974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 / AuDHD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008376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SRS-2 · SCQ · AQ · RAADS-R · CAT-Q · Sensory Profile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72160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/ trauma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03250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PHQ-9/PHQ-A · GAD-7 · SCARED · DERS · PCL-5 / PC-PTSD-5 · GDS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602736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372160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403250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BEARS · Pediatric Sleep Q · STOP-Bang · Epworth · ISI · PSQI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626864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474573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056632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AUDIT-C · DAST-10 · ASSIST · BAM · craving scale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4626864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474573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fog / function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5056632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 Cog · Fatigue Severity · med-adherence · Lawton IADL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identify patterns &amp; referral needs — they do NOT replace formal diagnostic evaluation.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QUICK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Batteries by Population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55064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550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54680" y="160934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Vanderbilt (P+T) · BRIEF-2/CEFI · PSC-17/SDQ · SCARED · BEARS · SRS-2/SCQ · Sensory Profile 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313432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134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54680" y="226771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Vanderbilt/Conners · BRIEF-2/A · PHQ-A · GAD-7 · ISI · SRS-2/AQ/CAT-Q · CogniFit/QbCheck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971800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71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54680" y="29260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ASRS v1.1 · BRIEF-A/BDEFS · PHQ-9 · GAD-7 · STOP-Bang · Epworth · PROMIS Cog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630168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30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ADHD/Autism/AuDHD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154680" y="358444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ASRS · BRIEF-A/BDEFS · AQ/RAADS-R · CAT-Q · Sensory Profile · PCL-5/PC-PTSD-5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187952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288536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28853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154680" y="424281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MoCA/CogniFit · BRIEF-A/BDEFS · PHQ-9 · GAD-7 · PCL-5 · BAM · AUDIT-C/DAST-10 · craving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4946904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94690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154680" y="490118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 Cog · MoCA · BRIEF-A · PHQ-9/GAD-7 · STOP-Bang · Fatigue · Lawton IADL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504688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" y="5605272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6052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154680" y="555955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Mini-Cog · MoCA/SLUMS · AD8 · FAQ/Lawton · GDS/PHQ-9 · STOP-Bang · CAM · anticholinergic review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Screening → the Cognitive Profile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2B3A7A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identifies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strengths &amp; weaknesses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· attention · memory · processing patterns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Emotional-regulation concerns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medical contributors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Autism/AuDHD traits when present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or chronic-disease barriers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Older-adult safety / memory concerns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69164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02C39A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5508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then guides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0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&amp; patient education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0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/ work accommodations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0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optimization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0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training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0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/ psychiatry referral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0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Neuropsychology / neurology referral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0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&amp; chronic-care supports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0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education &amp; follow-up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CONTRIBUTORS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the Body Before Psychiatry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 can be suppressed by physiologic factors that are often reversible. Staff SCREEN and FLAG; the Provider evaluates, orders labs, and treats.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breathing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apnea · snoring / mouth breathing · insomnia · poor sleep quality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233172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&amp; labs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29260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/ ferritin · B12 / folate · vitamin D · thyroid · A1C / glucose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233172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7532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Inflammation &amp; vascular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75320" y="29260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· chronic inflammation · hypertension · vascular risk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&amp; metabolic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6634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Peri/menopause · testosterone · insulin resistance · MASLD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40690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2628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&amp; load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46634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Polypharmacy · anticholinergic burden · side effects · pain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40690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7532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&amp; lifestyle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46634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burden · chronic stress · dehydration · movement · screens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&amp; Billing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codes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97127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2194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cognitive/EF training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907792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077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97535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29077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add-ons (Silver)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621024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2102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96132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36210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interpretation (baseline &amp; quarterly)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334256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342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96136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43342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administration / scoring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5047488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0474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 codes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50474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Health Integration (Gold)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97127 note needs 5 elements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22860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2286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diagnosis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92240" y="285292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852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86600" y="28529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Deficits targeted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92240" y="341985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419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86600" y="341985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delivered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92240" y="398678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3986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086600" y="39867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response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92240" y="45537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86600" y="45537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assigned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92240" y="5257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documentation is the standard. The APD audits all notes weekly.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COMMUNICATION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Talk IS the Intervention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is communication — not defiance or laziness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pattern, not the person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shame — struggles are brain-based and workable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language first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 is a muscle — it fatigues, then strengthens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60020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patient asks for a diagnosis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"These are screening tools that map how your brain is working. The provider reviews it all together and talks with you about what it means — I’ll make sure that’s on your review list."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35040" y="374904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3931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Encouraging a fatigued patient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43434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"Executive function is like a muscle — it gets tired but grows stronger with consistent training. If you’re fatigued, try a shorter session today."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· FOLLOW-UP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Rhythm &amp; Escalation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83680" cy="896112"/>
          </a:xfrm>
          <a:prstGeom prst="roundRect">
            <a:avLst>
              <a:gd name="adj" fmla="val 10204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73936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7393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06040" y="169164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97127 session + same-day note; track homework &amp; digital compliance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6583680" cy="896112"/>
          </a:xfrm>
          <a:prstGeom prst="roundRect">
            <a:avLst>
              <a:gd name="adj" fmla="val 10204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798064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9806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(Wk 4)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06040" y="2715768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summary → APD reviews first → NP updates plan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6583680" cy="896112"/>
          </a:xfrm>
          <a:prstGeom prst="roundRect">
            <a:avLst>
              <a:gd name="adj" fmla="val 10204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22192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221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(Wk 12)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06040" y="3739896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retest; APD compiles; NP interprets &amp; bills 96132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72584"/>
            <a:ext cx="6583680" cy="896112"/>
          </a:xfrm>
          <a:prstGeom prst="roundRect">
            <a:avLst>
              <a:gd name="adj" fmla="val 10204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84632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46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06040" y="4764024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· modify tier · maintenance · discharge · refer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160020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F96167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3524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80960" y="228600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 or medical concern → APD routes to Provider SAME DAY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diagnosis needed → Provider refers for full evaluation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/ safety → follow BHW crisis protocol immediately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· ROUND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2B3A7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206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asks, "Do I have ADHD?" What do you say and do?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2B3A7A"/>
          </a:solidFill>
          <a:ln/>
        </p:spPr>
      </p:sp>
      <p:sp>
        <p:nvSpPr>
          <p:cNvPr id="9" name="Shape 7"/>
          <p:cNvSpPr/>
          <p:nvPr/>
        </p:nvSpPr>
        <p:spPr>
          <a:xfrm>
            <a:off x="6428232" y="194767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0" y="1947672"/>
            <a:ext cx="4206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order and interpret labs?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2B3A7A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09651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4096512"/>
            <a:ext cx="4206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notice a red flag (sudden cognitive decline). What is your next step?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2B3A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28232" y="409651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0" y="4096512"/>
            <a:ext cx="4206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thing non-clinical staff MAY NOT do.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the speaker notes · full written assessment administered separately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· ROUND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Journey &amp; Deadlines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206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maximum time a referral may stay unassigned?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28232" y="194767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0" y="1947672"/>
            <a:ext cx="4206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digital testing must be completed within how long?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09651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4096512"/>
            <a:ext cx="4206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must a weekly 97127 session be documented?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409651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0" y="4096512"/>
            <a:ext cx="4206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monthly review, whose summary is read first — and by whom?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the speaker notes · full written assessment administered separately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· ROUND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&amp; Documentation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206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two primary computerized cognitive batteries.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28232" y="194767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0" y="1947672"/>
            <a:ext cx="4206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clarify AuDHD, which four screening categories combine?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09651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4096512"/>
            <a:ext cx="4206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five required elements of a 97127 session note.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2700">
            <a:solidFill>
              <a:srgbClr val="E2E9F3"/>
            </a:solidFill>
            <a:prstDash val="solid"/>
          </a:ln>
          <a:effectLst>
            <a:outerShdw sx="100000" sy="100000" kx="0" ky="0" algn="bl" rotWithShape="0" blurRad="76200" dist="25400" dir="5400000">
              <a:srgbClr val="BAC4D6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409651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0" y="4096512"/>
            <a:ext cx="4206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tools identify patterns — what do they NOT do?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the speaker notes · full written assessment administered separately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4937760" cy="493776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828800"/>
            <a:ext cx="4572000" cy="457200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Through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Cognition and Education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60120" y="39319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full guide · Pass the competency assessment &amp; sign off · Complete your role checklist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470916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709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CharmEd Minds™ · Employee Training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2026-07-30T19:31:43Z</dcterms:created>
  <dcterms:modified xsi:type="dcterms:W3CDTF">2026-07-30T19:31:43Z</dcterms:modified>
</cp:coreProperties>
</file>